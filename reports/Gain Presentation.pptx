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Public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56957E-354E-45BC-AC96-41F6FFF695BE}">
  <a:tblStyle styleId="{2156957E-354E-45BC-AC96-41F6FFF695BE}"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ublicSans-bold.fntdata"/><Relationship Id="rId11" Type="http://schemas.openxmlformats.org/officeDocument/2006/relationships/slide" Target="slides/slide4.xml"/><Relationship Id="rId22" Type="http://schemas.openxmlformats.org/officeDocument/2006/relationships/font" Target="fonts/PublicSans-boldItalic.fntdata"/><Relationship Id="rId10" Type="http://schemas.openxmlformats.org/officeDocument/2006/relationships/slide" Target="slides/slide3.xml"/><Relationship Id="rId21" Type="http://schemas.openxmlformats.org/officeDocument/2006/relationships/font" Target="fonts/PublicSans-italic.fntdata"/><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font" Target="fonts/PublicSans-regular.fntdata"/><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9be987c45_3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a9be987c45_3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9be987c45_3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a9be987c45_3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9d1b67e4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a9d1b67e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9be987c45_3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3a9be987c45_3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ublic Sans"/>
                <a:ea typeface="Public Sans"/>
                <a:cs typeface="Public Sans"/>
                <a:sym typeface="Public Sans"/>
              </a:rPr>
              <a:t>Figure 1 compares the average gain for flights that departed on time with those that departed late. Flights leaving early or on time gained an average of 9.3 minutes, while late-departing flights gained 7.5 minutes on average. To assess whether this difference is statistically meaningful, a two-sample t-test with unequal variances was conducted (Table 1). The test produced a p-value of 2.2e-16 and a 95% confidence interval for the difference of (1.411, 2.04). Although the difference is statistically significant, its magnitude is small.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65dbec417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3865dbec417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ublic Sans"/>
                <a:ea typeface="Public Sans"/>
                <a:cs typeface="Public Sans"/>
                <a:sym typeface="Public Sans"/>
              </a:rPr>
              <a:t>Figure 2 displays the average gain for flights that departed early, on-time, or slightly late  compared with those that departed very late (by more than 30 minutes). Flights that departed very late gained 6.8 minutes on average whereas those did not gained 8.7 minutes. A two-sample t-test assuming unequal variances was used to evaluate the significance of this difference. The test yielded a p-value of 3.215e-10 and a 95% confidence interval of (1.268, 2.415). These results indicate that, while the difference in gain between the two groups is statistically significant, it is practically quite small.</a:t>
            </a:r>
            <a:endParaRPr>
              <a:solidFill>
                <a:schemeClr val="dk1"/>
              </a:solidFill>
              <a:latin typeface="Public Sans"/>
              <a:ea typeface="Public Sans"/>
              <a:cs typeface="Public Sans"/>
              <a:sym typeface="Public Sans"/>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65dbec417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3865dbec417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65dbec417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865dbec417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ublic Sans"/>
                <a:ea typeface="Public Sans"/>
                <a:cs typeface="Public Sans"/>
                <a:sym typeface="Public Sans"/>
              </a:rPr>
              <a:t>Figure 4 shows the average gain per hour for flights that departed late and those that did not. On average, flights that departed on time gained 3.99 minutes per hour whereas late departures gained 3.184 minutes. Due to concern regarding the normality of the gain per hour variable, both regular and bootstrap t tests were conducted. However, the resulting 95% confidence intervals of the difference in means agree (Table 4) with both suggesting that there is a statistically significant yet negligible difference in gain per hour between on-time and late departures.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865dbec417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865dbec417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ublic Sans"/>
                <a:ea typeface="Public Sans"/>
                <a:cs typeface="Public Sans"/>
                <a:sym typeface="Public Sans"/>
              </a:rPr>
              <a:t>Figure 5 compares average gain for flights departing on time versus those departing late. Early, on-time, or slightly late departures showed an average gain of 3.7 minutes per hour, while late departures averaged 3.06 minutes. A two-sample t-test with unequal variances was used to test the difference, producing a p-value of 1.372e-06 and a 95% confidence interval of (0.3745, 0.8858). These results confirm a statistically significant difference in gain between the groups, though the size of the difference is minimal.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a3e270bb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aa3e270bb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Public Sans"/>
                <a:ea typeface="Public Sans"/>
                <a:cs typeface="Public Sans"/>
                <a:sym typeface="Public Sans"/>
              </a:rPr>
              <a:t>On average, long flights (&gt; 200 minutes) tend to have a lower gain of 1.576 minutes per hour whereas shorter flights have a gain of 5.515 minutes per hour (Figure 6). A Two sample t-test confirms the significance of this difference with a P-Value of 2.2e-16.</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865dbec41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865dbec41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9be987c45_3_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a9be987c45_3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p1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 name="Google Shape;56;p1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p1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0" name="Google Shape;6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3" name="Google Shape;6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4" name="Shape 64"/>
        <p:cNvGrpSpPr/>
        <p:nvPr/>
      </p:nvGrpSpPr>
      <p:grpSpPr>
        <a:xfrm>
          <a:off x="0" y="0"/>
          <a:ext cx="0" cy="0"/>
          <a:chOff x="0" y="0"/>
          <a:chExt cx="0" cy="0"/>
        </a:xfrm>
      </p:grpSpPr>
      <p:sp>
        <p:nvSpPr>
          <p:cNvPr id="65" name="Google Shape;65;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6" name="Google Shape;66;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7" name="Google Shape;6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sp>
        <p:nvSpPr>
          <p:cNvPr id="69" name="Google Shape;6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1" name="Google Shape;7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2" name="Shape 72"/>
        <p:cNvGrpSpPr/>
        <p:nvPr/>
      </p:nvGrpSpPr>
      <p:grpSpPr>
        <a:xfrm>
          <a:off x="0" y="0"/>
          <a:ext cx="0" cy="0"/>
          <a:chOff x="0" y="0"/>
          <a:chExt cx="0" cy="0"/>
        </a:xfrm>
      </p:grpSpPr>
      <p:sp>
        <p:nvSpPr>
          <p:cNvPr id="73" name="Google Shape;7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5" name="Google Shape;75;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9" name="Google Shape;7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0" name="Shape 80"/>
        <p:cNvGrpSpPr/>
        <p:nvPr/>
      </p:nvGrpSpPr>
      <p:grpSpPr>
        <a:xfrm>
          <a:off x="0" y="0"/>
          <a:ext cx="0" cy="0"/>
          <a:chOff x="0" y="0"/>
          <a:chExt cx="0" cy="0"/>
        </a:xfrm>
      </p:grpSpPr>
      <p:sp>
        <p:nvSpPr>
          <p:cNvPr id="81" name="Google Shape;81;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2" name="Google Shape;82;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3" name="Google Shape;8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7" name="Google Shape;87;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8" name="Google Shape;88;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9" name="Google Shape;8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2" name="Google Shape;9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p>
            <a:pPr indent="0" lvl="0" marL="0" rtl="0" algn="ctr">
              <a:lnSpc>
                <a:spcPct val="90000"/>
              </a:lnSpc>
              <a:spcBef>
                <a:spcPts val="0"/>
              </a:spcBef>
              <a:spcAft>
                <a:spcPts val="0"/>
              </a:spcAft>
              <a:buSzPts val="12000"/>
              <a:buNone/>
            </a:pPr>
            <a:r>
              <a:rPr lang="en" sz="3900"/>
              <a:t>United Airlines Time Recovery Analysis: NYC Departures (2013)</a:t>
            </a:r>
            <a:endParaRPr/>
          </a:p>
        </p:txBody>
      </p:sp>
      <p:sp>
        <p:nvSpPr>
          <p:cNvPr id="100" name="Google Shape;100;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800"/>
              <a:buNone/>
            </a:pPr>
            <a:r>
              <a:rPr lang="en"/>
              <a:t>Project 2 Presentation</a:t>
            </a:r>
            <a:endParaRPr/>
          </a:p>
          <a:p>
            <a:pPr indent="0" lvl="0" marL="0" rtl="0" algn="ctr">
              <a:lnSpc>
                <a:spcPct val="115000"/>
              </a:lnSpc>
              <a:spcBef>
                <a:spcPts val="600"/>
              </a:spcBef>
              <a:spcAft>
                <a:spcPts val="600"/>
              </a:spcAft>
              <a:buSzPts val="1800"/>
              <a:buNone/>
            </a:pPr>
            <a:r>
              <a:rPr lang="en"/>
              <a:t>DATA 5300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a:bodyPr>
          <a:lstStyle/>
          <a:p>
            <a:pPr indent="0" lvl="0" marL="0" rtl="0" algn="l">
              <a:lnSpc>
                <a:spcPct val="90000"/>
              </a:lnSpc>
              <a:spcBef>
                <a:spcPts val="0"/>
              </a:spcBef>
              <a:spcAft>
                <a:spcPts val="0"/>
              </a:spcAft>
              <a:buSzPts val="4800"/>
              <a:buNone/>
            </a:pPr>
            <a:r>
              <a:rPr lang="en" sz="2600"/>
              <a:t>Introduction</a:t>
            </a:r>
            <a:endParaRPr/>
          </a:p>
        </p:txBody>
      </p:sp>
      <p:grpSp>
        <p:nvGrpSpPr>
          <p:cNvPr id="106" name="Google Shape;106;p26"/>
          <p:cNvGrpSpPr/>
          <p:nvPr/>
        </p:nvGrpSpPr>
        <p:grpSpPr>
          <a:xfrm>
            <a:off x="501655" y="1773570"/>
            <a:ext cx="8140688" cy="2133717"/>
            <a:chOff x="189955" y="565345"/>
            <a:chExt cx="8140688" cy="2133717"/>
          </a:xfrm>
        </p:grpSpPr>
        <p:sp>
          <p:nvSpPr>
            <p:cNvPr id="107" name="Google Shape;107;p26"/>
            <p:cNvSpPr/>
            <p:nvPr/>
          </p:nvSpPr>
          <p:spPr>
            <a:xfrm>
              <a:off x="858221" y="565345"/>
              <a:ext cx="1093525" cy="1093525"/>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6"/>
            <p:cNvSpPr/>
            <p:nvPr/>
          </p:nvSpPr>
          <p:spPr>
            <a:xfrm>
              <a:off x="189955" y="1979062"/>
              <a:ext cx="2430056"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6"/>
            <p:cNvSpPr txBox="1"/>
            <p:nvPr/>
          </p:nvSpPr>
          <p:spPr>
            <a:xfrm>
              <a:off x="189955" y="1979062"/>
              <a:ext cx="2430056"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Analyzed United Airlines (UA) departing flights from NYC airports in 2013</a:t>
              </a:r>
              <a:endParaRPr b="0" i="0" sz="1600" u="none" cap="none" strike="noStrike">
                <a:solidFill>
                  <a:srgbClr val="000000"/>
                </a:solidFill>
                <a:latin typeface="Arial"/>
                <a:ea typeface="Arial"/>
                <a:cs typeface="Arial"/>
                <a:sym typeface="Arial"/>
              </a:endParaRPr>
            </a:p>
          </p:txBody>
        </p:sp>
        <p:sp>
          <p:nvSpPr>
            <p:cNvPr id="110" name="Google Shape;110;p26"/>
            <p:cNvSpPr/>
            <p:nvPr/>
          </p:nvSpPr>
          <p:spPr>
            <a:xfrm>
              <a:off x="3713537" y="565345"/>
              <a:ext cx="1093525" cy="1093525"/>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6"/>
            <p:cNvSpPr/>
            <p:nvPr/>
          </p:nvSpPr>
          <p:spPr>
            <a:xfrm>
              <a:off x="3045271" y="1979062"/>
              <a:ext cx="2430056"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6"/>
            <p:cNvSpPr txBox="1"/>
            <p:nvPr/>
          </p:nvSpPr>
          <p:spPr>
            <a:xfrm>
              <a:off x="3045271" y="1979062"/>
              <a:ext cx="2430056"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Our goal: Understand how flights recover time en route</a:t>
              </a:r>
              <a:endParaRPr b="0" i="0" sz="1600" u="none" cap="none" strike="noStrike">
                <a:solidFill>
                  <a:srgbClr val="000000"/>
                </a:solidFill>
                <a:latin typeface="Arial"/>
                <a:ea typeface="Arial"/>
                <a:cs typeface="Arial"/>
                <a:sym typeface="Arial"/>
              </a:endParaRPr>
            </a:p>
          </p:txBody>
        </p:sp>
        <p:sp>
          <p:nvSpPr>
            <p:cNvPr id="113" name="Google Shape;113;p26"/>
            <p:cNvSpPr/>
            <p:nvPr/>
          </p:nvSpPr>
          <p:spPr>
            <a:xfrm>
              <a:off x="6568853" y="565345"/>
              <a:ext cx="1093525" cy="1093525"/>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6"/>
            <p:cNvSpPr/>
            <p:nvPr/>
          </p:nvSpPr>
          <p:spPr>
            <a:xfrm>
              <a:off x="5900587" y="1979062"/>
              <a:ext cx="2430056"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6"/>
            <p:cNvSpPr txBox="1"/>
            <p:nvPr/>
          </p:nvSpPr>
          <p:spPr>
            <a:xfrm>
              <a:off x="5900587" y="1979062"/>
              <a:ext cx="2430056"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We focused on two measures: </a:t>
              </a:r>
              <a:r>
                <a:rPr b="1" i="0" lang="en" sz="1600" u="none" cap="none" strike="noStrike">
                  <a:solidFill>
                    <a:srgbClr val="000000"/>
                  </a:solidFill>
                  <a:latin typeface="Arial"/>
                  <a:ea typeface="Arial"/>
                  <a:cs typeface="Arial"/>
                  <a:sym typeface="Arial"/>
                </a:rPr>
                <a:t>net gain</a:t>
              </a:r>
              <a:r>
                <a:rPr b="0" i="0" lang="en" sz="1600" u="none" cap="none" strike="noStrike">
                  <a:solidFill>
                    <a:srgbClr val="000000"/>
                  </a:solidFill>
                  <a:latin typeface="Arial"/>
                  <a:ea typeface="Arial"/>
                  <a:cs typeface="Arial"/>
                  <a:sym typeface="Arial"/>
                </a:rPr>
                <a:t> and </a:t>
              </a:r>
              <a:r>
                <a:rPr b="1" i="0" lang="en" sz="1600" u="none" cap="none" strike="noStrike">
                  <a:solidFill>
                    <a:srgbClr val="000000"/>
                  </a:solidFill>
                  <a:latin typeface="Arial"/>
                  <a:ea typeface="Arial"/>
                  <a:cs typeface="Arial"/>
                  <a:sym typeface="Arial"/>
                </a:rPr>
                <a:t>gain per hour</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7"/>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4800"/>
              <a:buNone/>
            </a:pPr>
            <a:r>
              <a:rPr lang="en" sz="2600"/>
              <a:t>Data Methodology</a:t>
            </a:r>
            <a:endParaRPr/>
          </a:p>
        </p:txBody>
      </p:sp>
      <p:grpSp>
        <p:nvGrpSpPr>
          <p:cNvPr id="121" name="Google Shape;121;p27"/>
          <p:cNvGrpSpPr/>
          <p:nvPr/>
        </p:nvGrpSpPr>
        <p:grpSpPr>
          <a:xfrm>
            <a:off x="501700" y="1582910"/>
            <a:ext cx="8140632" cy="3195300"/>
            <a:chOff x="189955" y="816270"/>
            <a:chExt cx="8140632" cy="1882800"/>
          </a:xfrm>
        </p:grpSpPr>
        <p:sp>
          <p:nvSpPr>
            <p:cNvPr id="122" name="Google Shape;122;p27"/>
            <p:cNvSpPr/>
            <p:nvPr/>
          </p:nvSpPr>
          <p:spPr>
            <a:xfrm>
              <a:off x="189955" y="1979062"/>
              <a:ext cx="243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7"/>
            <p:cNvSpPr txBox="1"/>
            <p:nvPr/>
          </p:nvSpPr>
          <p:spPr>
            <a:xfrm>
              <a:off x="4115555" y="816270"/>
              <a:ext cx="2430000" cy="18828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600"/>
                <a:buFont typeface="Arial"/>
                <a:buNone/>
              </a:pPr>
              <a:r>
                <a:t/>
              </a:r>
              <a:endParaRPr sz="1600"/>
            </a:p>
            <a:p>
              <a:pPr indent="0" lvl="0" marL="0" marR="0" rtl="0" algn="ctr">
                <a:lnSpc>
                  <a:spcPct val="90000"/>
                </a:lnSpc>
                <a:spcBef>
                  <a:spcPts val="0"/>
                </a:spcBef>
                <a:spcAft>
                  <a:spcPts val="0"/>
                </a:spcAft>
                <a:buClr>
                  <a:srgbClr val="000000"/>
                </a:buClr>
                <a:buSzPts val="1600"/>
                <a:buFont typeface="Arial"/>
                <a:buNone/>
              </a:pPr>
              <a:r>
                <a:t/>
              </a:r>
              <a:endParaRPr sz="1600"/>
            </a:p>
            <a:p>
              <a:pPr indent="0" lvl="0" marL="0" rtl="0" algn="ctr">
                <a:lnSpc>
                  <a:spcPct val="90000"/>
                </a:lnSpc>
                <a:spcBef>
                  <a:spcPts val="0"/>
                </a:spcBef>
                <a:spcAft>
                  <a:spcPts val="0"/>
                </a:spcAft>
                <a:buClr>
                  <a:schemeClr val="dk1"/>
                </a:buClr>
                <a:buSzPts val="1600"/>
                <a:buFont typeface="Arial"/>
                <a:buNone/>
              </a:pPr>
              <a:r>
                <a:t/>
              </a:r>
              <a:endParaRPr sz="1600">
                <a:solidFill>
                  <a:schemeClr val="dk1"/>
                </a:solidFill>
              </a:endParaRPr>
            </a:p>
            <a:p>
              <a:pPr indent="0" lvl="0" marL="0" marR="0" rtl="0" algn="ctr">
                <a:lnSpc>
                  <a:spcPct val="90000"/>
                </a:lnSpc>
                <a:spcBef>
                  <a:spcPts val="0"/>
                </a:spcBef>
                <a:spcAft>
                  <a:spcPts val="0"/>
                </a:spcAft>
                <a:buClr>
                  <a:srgbClr val="000000"/>
                </a:buClr>
                <a:buSzPts val="1600"/>
                <a:buFont typeface="Arial"/>
                <a:buNone/>
              </a:pPr>
              <a:r>
                <a:rPr lang="en" sz="1600"/>
                <a:t>Late and Very Late</a:t>
              </a:r>
              <a:endParaRPr sz="1600"/>
            </a:p>
            <a:p>
              <a:pPr indent="0" lvl="0" marL="0" marR="0" rtl="0" algn="ctr">
                <a:lnSpc>
                  <a:spcPct val="90000"/>
                </a:lnSpc>
                <a:spcBef>
                  <a:spcPts val="0"/>
                </a:spcBef>
                <a:spcAft>
                  <a:spcPts val="0"/>
                </a:spcAft>
                <a:buClr>
                  <a:srgbClr val="000000"/>
                </a:buClr>
                <a:buSzPts val="1600"/>
                <a:buFont typeface="Arial"/>
                <a:buNone/>
              </a:pPr>
              <a:r>
                <a:t/>
              </a:r>
              <a:endParaRPr sz="1600"/>
            </a:p>
            <a:p>
              <a:pPr indent="0" lvl="0" marL="0" marR="0" rtl="0" algn="ctr">
                <a:lnSpc>
                  <a:spcPct val="90000"/>
                </a:lnSpc>
                <a:spcBef>
                  <a:spcPts val="0"/>
                </a:spcBef>
                <a:spcAft>
                  <a:spcPts val="0"/>
                </a:spcAft>
                <a:buClr>
                  <a:srgbClr val="000000"/>
                </a:buClr>
                <a:buSzPts val="1600"/>
                <a:buFont typeface="Arial"/>
                <a:buNone/>
              </a:pPr>
              <a:r>
                <a:rPr lang="en" sz="1600"/>
                <a:t>Gain</a:t>
              </a:r>
              <a:endParaRPr sz="1600"/>
            </a:p>
            <a:p>
              <a:pPr indent="0" lvl="0" marL="0" marR="0" rtl="0" algn="ctr">
                <a:lnSpc>
                  <a:spcPct val="90000"/>
                </a:lnSpc>
                <a:spcBef>
                  <a:spcPts val="0"/>
                </a:spcBef>
                <a:spcAft>
                  <a:spcPts val="0"/>
                </a:spcAft>
                <a:buClr>
                  <a:srgbClr val="000000"/>
                </a:buClr>
                <a:buSzPts val="1600"/>
                <a:buFont typeface="Arial"/>
                <a:buNone/>
              </a:pPr>
              <a:r>
                <a:t/>
              </a:r>
              <a:endParaRPr sz="1600"/>
            </a:p>
            <a:p>
              <a:pPr indent="0" lvl="0" marL="0" rtl="0" algn="ctr">
                <a:lnSpc>
                  <a:spcPct val="90000"/>
                </a:lnSpc>
                <a:spcBef>
                  <a:spcPts val="0"/>
                </a:spcBef>
                <a:spcAft>
                  <a:spcPts val="0"/>
                </a:spcAft>
                <a:buClr>
                  <a:schemeClr val="dk1"/>
                </a:buClr>
                <a:buSzPts val="1600"/>
                <a:buFont typeface="Arial"/>
                <a:buNone/>
              </a:pPr>
              <a:r>
                <a:rPr lang="en" sz="1600">
                  <a:solidFill>
                    <a:schemeClr val="dk1"/>
                  </a:solidFill>
                </a:rPr>
                <a:t>Destination Airports</a:t>
              </a:r>
              <a:endParaRPr sz="1600"/>
            </a:p>
            <a:p>
              <a:pPr indent="0" lvl="0" marL="0" marR="0" rtl="0" algn="ctr">
                <a:lnSpc>
                  <a:spcPct val="90000"/>
                </a:lnSpc>
                <a:spcBef>
                  <a:spcPts val="0"/>
                </a:spcBef>
                <a:spcAft>
                  <a:spcPts val="0"/>
                </a:spcAft>
                <a:buClr>
                  <a:srgbClr val="000000"/>
                </a:buClr>
                <a:buSzPts val="1600"/>
                <a:buFont typeface="Arial"/>
                <a:buNone/>
              </a:pPr>
              <a:r>
                <a:t/>
              </a:r>
              <a:endParaRPr sz="1600"/>
            </a:p>
            <a:p>
              <a:pPr indent="0" lvl="0" marL="0" marR="0" rtl="0" algn="ctr">
                <a:lnSpc>
                  <a:spcPct val="90000"/>
                </a:lnSpc>
                <a:spcBef>
                  <a:spcPts val="0"/>
                </a:spcBef>
                <a:spcAft>
                  <a:spcPts val="0"/>
                </a:spcAft>
                <a:buClr>
                  <a:srgbClr val="000000"/>
                </a:buClr>
                <a:buSzPts val="1600"/>
                <a:buFont typeface="Arial"/>
                <a:buNone/>
              </a:pPr>
              <a:r>
                <a:rPr lang="en" sz="1600"/>
                <a:t>Gain Per Hour</a:t>
              </a:r>
              <a:endParaRPr sz="1600"/>
            </a:p>
            <a:p>
              <a:pPr indent="0" lvl="0" marL="0" marR="0" rtl="0" algn="ctr">
                <a:lnSpc>
                  <a:spcPct val="90000"/>
                </a:lnSpc>
                <a:spcBef>
                  <a:spcPts val="0"/>
                </a:spcBef>
                <a:spcAft>
                  <a:spcPts val="0"/>
                </a:spcAft>
                <a:buClr>
                  <a:srgbClr val="000000"/>
                </a:buClr>
                <a:buSzPts val="1600"/>
                <a:buFont typeface="Arial"/>
                <a:buNone/>
              </a:pPr>
              <a:r>
                <a:t/>
              </a:r>
              <a:endParaRPr sz="1600"/>
            </a:p>
            <a:p>
              <a:pPr indent="0" lvl="0" marL="0" marR="0" rtl="0" algn="ctr">
                <a:lnSpc>
                  <a:spcPct val="90000"/>
                </a:lnSpc>
                <a:spcBef>
                  <a:spcPts val="0"/>
                </a:spcBef>
                <a:spcAft>
                  <a:spcPts val="0"/>
                </a:spcAft>
                <a:buClr>
                  <a:srgbClr val="000000"/>
                </a:buClr>
                <a:buSzPts val="1600"/>
                <a:buFont typeface="Arial"/>
                <a:buNone/>
              </a:pPr>
              <a:r>
                <a:rPr lang="en" sz="1600"/>
                <a:t>Short vs Long Flights</a:t>
              </a:r>
              <a:endParaRPr sz="1600"/>
            </a:p>
          </p:txBody>
        </p:sp>
        <p:sp>
          <p:nvSpPr>
            <p:cNvPr id="124" name="Google Shape;124;p27"/>
            <p:cNvSpPr/>
            <p:nvPr/>
          </p:nvSpPr>
          <p:spPr>
            <a:xfrm>
              <a:off x="1810505" y="1094783"/>
              <a:ext cx="1566300" cy="11493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7"/>
            <p:cNvSpPr/>
            <p:nvPr/>
          </p:nvSpPr>
          <p:spPr>
            <a:xfrm>
              <a:off x="5900587" y="1979062"/>
              <a:ext cx="243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700"/>
              <a:t>Does the average gain differ for flights that departed late versus those that did not? </a:t>
            </a:r>
            <a:endParaRPr sz="1700"/>
          </a:p>
        </p:txBody>
      </p:sp>
      <p:pic>
        <p:nvPicPr>
          <p:cNvPr id="131" name="Google Shape;131;p28"/>
          <p:cNvPicPr preferRelativeResize="0"/>
          <p:nvPr/>
        </p:nvPicPr>
        <p:blipFill>
          <a:blip r:embed="rId3">
            <a:alphaModFix/>
          </a:blip>
          <a:stretch>
            <a:fillRect/>
          </a:stretch>
        </p:blipFill>
        <p:spPr>
          <a:xfrm>
            <a:off x="2195500" y="1017725"/>
            <a:ext cx="4752975" cy="2895600"/>
          </a:xfrm>
          <a:prstGeom prst="rect">
            <a:avLst/>
          </a:prstGeom>
          <a:noFill/>
          <a:ln>
            <a:noFill/>
          </a:ln>
        </p:spPr>
      </p:pic>
      <p:graphicFrame>
        <p:nvGraphicFramePr>
          <p:cNvPr id="132" name="Google Shape;132;p28"/>
          <p:cNvGraphicFramePr/>
          <p:nvPr/>
        </p:nvGraphicFramePr>
        <p:xfrm>
          <a:off x="1600188" y="4041175"/>
          <a:ext cx="3000000" cy="3000000"/>
        </p:xfrm>
        <a:graphic>
          <a:graphicData uri="http://schemas.openxmlformats.org/drawingml/2006/table">
            <a:tbl>
              <a:tblPr>
                <a:noFill/>
                <a:tableStyleId>{2156957E-354E-45BC-AC96-41F6FFF695BE}</a:tableStyleId>
              </a:tblPr>
              <a:tblGrid>
                <a:gridCol w="1485900"/>
                <a:gridCol w="1485900"/>
                <a:gridCol w="1485900"/>
                <a:gridCol w="1485900"/>
              </a:tblGrid>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Degree of Freedom</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T-Statistic</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P-Value</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95% Confidence Interval</a:t>
                      </a:r>
                      <a:endParaRPr sz="1100">
                        <a:latin typeface="Public Sans"/>
                        <a:ea typeface="Public Sans"/>
                        <a:cs typeface="Public Sans"/>
                        <a:sym typeface="Public Sans"/>
                      </a:endParaRPr>
                    </a:p>
                  </a:txBody>
                  <a:tcPr marT="63500" marB="63500" marR="63500" marL="63500"/>
                </a:tc>
              </a:tr>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52833</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10.749</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2.2e-16</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(1.411, 2.04)</a:t>
                      </a:r>
                      <a:endParaRPr sz="1100">
                        <a:latin typeface="Public Sans"/>
                        <a:ea typeface="Public Sans"/>
                        <a:cs typeface="Public Sans"/>
                        <a:sym typeface="Public Sans"/>
                      </a:endParaRPr>
                    </a:p>
                  </a:txBody>
                  <a:tcPr marT="63500" marB="63500" marR="63500" marL="6350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100"/>
              <a:buNone/>
            </a:pPr>
            <a:r>
              <a:rPr lang="en" sz="1700"/>
              <a:t>Does the average gain differ for flights that departed very late versus those that did not?</a:t>
            </a:r>
            <a:endParaRPr sz="1700"/>
          </a:p>
        </p:txBody>
      </p:sp>
      <p:pic>
        <p:nvPicPr>
          <p:cNvPr id="138" name="Google Shape;138;p29"/>
          <p:cNvPicPr preferRelativeResize="0"/>
          <p:nvPr/>
        </p:nvPicPr>
        <p:blipFill>
          <a:blip r:embed="rId3">
            <a:alphaModFix/>
          </a:blip>
          <a:stretch>
            <a:fillRect/>
          </a:stretch>
        </p:blipFill>
        <p:spPr>
          <a:xfrm>
            <a:off x="2195500" y="873825"/>
            <a:ext cx="4752975" cy="2905125"/>
          </a:xfrm>
          <a:prstGeom prst="rect">
            <a:avLst/>
          </a:prstGeom>
          <a:noFill/>
          <a:ln>
            <a:noFill/>
          </a:ln>
        </p:spPr>
      </p:pic>
      <p:graphicFrame>
        <p:nvGraphicFramePr>
          <p:cNvPr id="139" name="Google Shape;139;p29"/>
          <p:cNvGraphicFramePr/>
          <p:nvPr/>
        </p:nvGraphicFramePr>
        <p:xfrm>
          <a:off x="1600188" y="3992100"/>
          <a:ext cx="3000000" cy="3000000"/>
        </p:xfrm>
        <a:graphic>
          <a:graphicData uri="http://schemas.openxmlformats.org/drawingml/2006/table">
            <a:tbl>
              <a:tblPr>
                <a:noFill/>
                <a:tableStyleId>{2156957E-354E-45BC-AC96-41F6FFF695BE}</a:tableStyleId>
              </a:tblPr>
              <a:tblGrid>
                <a:gridCol w="1485900"/>
                <a:gridCol w="1485900"/>
                <a:gridCol w="1485900"/>
                <a:gridCol w="1485900"/>
              </a:tblGrid>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Degree of Freedom</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T-Statistic</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P-Value</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95% Confidence Interval</a:t>
                      </a:r>
                      <a:endParaRPr sz="1100">
                        <a:latin typeface="Public Sans"/>
                        <a:ea typeface="Public Sans"/>
                        <a:cs typeface="Public Sans"/>
                        <a:sym typeface="Public Sans"/>
                      </a:endParaRPr>
                    </a:p>
                  </a:txBody>
                  <a:tcPr marT="63500" marB="63500" marR="63500" marL="63500"/>
                </a:tc>
              </a:tr>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8838.6</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6.2953</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3.215e-10</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(1.268, 2.415)</a:t>
                      </a:r>
                      <a:endParaRPr sz="1100">
                        <a:latin typeface="Public Sans"/>
                        <a:ea typeface="Public Sans"/>
                        <a:cs typeface="Public Sans"/>
                        <a:sym typeface="Public Sans"/>
                      </a:endParaRPr>
                    </a:p>
                  </a:txBody>
                  <a:tcPr marT="63500" marB="63500" marR="63500" marL="6350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100"/>
              <a:buNone/>
            </a:pPr>
            <a:r>
              <a:rPr lang="en" sz="1700"/>
              <a:t>Most common destination airports for United Airlines flights from New York City</a:t>
            </a:r>
            <a:endParaRPr sz="1700"/>
          </a:p>
        </p:txBody>
      </p:sp>
      <p:graphicFrame>
        <p:nvGraphicFramePr>
          <p:cNvPr id="145" name="Google Shape;145;p30"/>
          <p:cNvGraphicFramePr/>
          <p:nvPr/>
        </p:nvGraphicFramePr>
        <p:xfrm>
          <a:off x="311700" y="1735575"/>
          <a:ext cx="3000000" cy="3000000"/>
        </p:xfrm>
        <a:graphic>
          <a:graphicData uri="http://schemas.openxmlformats.org/drawingml/2006/table">
            <a:tbl>
              <a:tblPr>
                <a:noFill/>
                <a:tableStyleId>{2156957E-354E-45BC-AC96-41F6FFF695BE}</a:tableStyleId>
              </a:tblPr>
              <a:tblGrid>
                <a:gridCol w="1030000"/>
                <a:gridCol w="1030000"/>
                <a:gridCol w="1030000"/>
                <a:gridCol w="1030000"/>
              </a:tblGrid>
              <a:tr h="509175">
                <a:tc>
                  <a:txBody>
                    <a:bodyPr/>
                    <a:lstStyle/>
                    <a:p>
                      <a:pPr indent="0" lvl="0" marL="0" rtl="0" algn="l">
                        <a:spcBef>
                          <a:spcPts val="0"/>
                        </a:spcBef>
                        <a:spcAft>
                          <a:spcPts val="0"/>
                        </a:spcAft>
                        <a:buNone/>
                      </a:pPr>
                      <a:r>
                        <a:rPr lang="en" sz="1100">
                          <a:latin typeface="Public Sans"/>
                          <a:ea typeface="Public Sans"/>
                          <a:cs typeface="Public Sans"/>
                          <a:sym typeface="Public Sans"/>
                        </a:rPr>
                        <a:t>Destination</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Number of Flights</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Mean Gain (minutes)</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SD Gain</a:t>
                      </a:r>
                      <a:endParaRPr sz="1100">
                        <a:latin typeface="Public Sans"/>
                        <a:ea typeface="Public Sans"/>
                        <a:cs typeface="Public Sans"/>
                        <a:sym typeface="Public Sans"/>
                      </a:endParaRPr>
                    </a:p>
                  </a:txBody>
                  <a:tcPr marT="63500" marB="63500" marR="63500" marL="63500"/>
                </a:tc>
              </a:tr>
              <a:tr h="365625">
                <a:tc>
                  <a:txBody>
                    <a:bodyPr/>
                    <a:lstStyle/>
                    <a:p>
                      <a:pPr indent="0" lvl="0" marL="0" rtl="0" algn="l">
                        <a:spcBef>
                          <a:spcPts val="0"/>
                        </a:spcBef>
                        <a:spcAft>
                          <a:spcPts val="0"/>
                        </a:spcAft>
                        <a:buNone/>
                      </a:pPr>
                      <a:r>
                        <a:rPr lang="en" sz="1100">
                          <a:latin typeface="Public Sans"/>
                          <a:ea typeface="Public Sans"/>
                          <a:cs typeface="Public Sans"/>
                          <a:sym typeface="Public Sans"/>
                        </a:rPr>
                        <a:t>IAH</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6814</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6.861</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18.44</a:t>
                      </a:r>
                      <a:endParaRPr sz="1100">
                        <a:latin typeface="Public Sans"/>
                        <a:ea typeface="Public Sans"/>
                        <a:cs typeface="Public Sans"/>
                        <a:sym typeface="Public Sans"/>
                      </a:endParaRPr>
                    </a:p>
                  </a:txBody>
                  <a:tcPr marT="63500" marB="63500" marR="63500" marL="63500"/>
                </a:tc>
              </a:tr>
              <a:tr h="365625">
                <a:tc>
                  <a:txBody>
                    <a:bodyPr/>
                    <a:lstStyle/>
                    <a:p>
                      <a:pPr indent="0" lvl="0" marL="0" rtl="0" algn="l">
                        <a:spcBef>
                          <a:spcPts val="0"/>
                        </a:spcBef>
                        <a:spcAft>
                          <a:spcPts val="0"/>
                        </a:spcAft>
                        <a:buNone/>
                      </a:pPr>
                      <a:r>
                        <a:rPr lang="en" sz="1100">
                          <a:latin typeface="Public Sans"/>
                          <a:ea typeface="Public Sans"/>
                          <a:cs typeface="Public Sans"/>
                          <a:sym typeface="Public Sans"/>
                        </a:rPr>
                        <a:t>ORD</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6744</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7.777</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19.15</a:t>
                      </a:r>
                      <a:endParaRPr sz="1100">
                        <a:latin typeface="Public Sans"/>
                        <a:ea typeface="Public Sans"/>
                        <a:cs typeface="Public Sans"/>
                        <a:sym typeface="Public Sans"/>
                      </a:endParaRPr>
                    </a:p>
                  </a:txBody>
                  <a:tcPr marT="63500" marB="63500" marR="63500" marL="63500"/>
                </a:tc>
              </a:tr>
              <a:tr h="365625">
                <a:tc>
                  <a:txBody>
                    <a:bodyPr/>
                    <a:lstStyle/>
                    <a:p>
                      <a:pPr indent="0" lvl="0" marL="0" rtl="0" algn="l">
                        <a:spcBef>
                          <a:spcPts val="0"/>
                        </a:spcBef>
                        <a:spcAft>
                          <a:spcPts val="0"/>
                        </a:spcAft>
                        <a:buNone/>
                      </a:pPr>
                      <a:r>
                        <a:rPr lang="en" sz="1100">
                          <a:latin typeface="Public Sans"/>
                          <a:ea typeface="Public Sans"/>
                          <a:cs typeface="Public Sans"/>
                          <a:sym typeface="Public Sans"/>
                        </a:rPr>
                        <a:t>SFO</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6728</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8.695</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22.40</a:t>
                      </a:r>
                      <a:endParaRPr sz="1100">
                        <a:latin typeface="Public Sans"/>
                        <a:ea typeface="Public Sans"/>
                        <a:cs typeface="Public Sans"/>
                        <a:sym typeface="Public Sans"/>
                      </a:endParaRPr>
                    </a:p>
                  </a:txBody>
                  <a:tcPr marT="63500" marB="63500" marR="63500" marL="63500"/>
                </a:tc>
              </a:tr>
              <a:tr h="365625">
                <a:tc>
                  <a:txBody>
                    <a:bodyPr/>
                    <a:lstStyle/>
                    <a:p>
                      <a:pPr indent="0" lvl="0" marL="0" rtl="0" algn="l">
                        <a:spcBef>
                          <a:spcPts val="0"/>
                        </a:spcBef>
                        <a:spcAft>
                          <a:spcPts val="0"/>
                        </a:spcAft>
                        <a:buNone/>
                      </a:pPr>
                      <a:r>
                        <a:rPr lang="en" sz="1100">
                          <a:latin typeface="Public Sans"/>
                          <a:ea typeface="Public Sans"/>
                          <a:cs typeface="Public Sans"/>
                          <a:sym typeface="Public Sans"/>
                        </a:rPr>
                        <a:t>LAX</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5770</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7.825</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21.91</a:t>
                      </a:r>
                      <a:endParaRPr sz="1100">
                        <a:latin typeface="Public Sans"/>
                        <a:ea typeface="Public Sans"/>
                        <a:cs typeface="Public Sans"/>
                        <a:sym typeface="Public Sans"/>
                      </a:endParaRPr>
                    </a:p>
                  </a:txBody>
                  <a:tcPr marT="63500" marB="63500" marR="63500" marL="63500"/>
                </a:tc>
              </a:tr>
              <a:tr h="365625">
                <a:tc>
                  <a:txBody>
                    <a:bodyPr/>
                    <a:lstStyle/>
                    <a:p>
                      <a:pPr indent="0" lvl="0" marL="0" rtl="0" algn="l">
                        <a:spcBef>
                          <a:spcPts val="0"/>
                        </a:spcBef>
                        <a:spcAft>
                          <a:spcPts val="0"/>
                        </a:spcAft>
                        <a:buNone/>
                      </a:pPr>
                      <a:r>
                        <a:rPr lang="en" sz="1100">
                          <a:latin typeface="Public Sans"/>
                          <a:ea typeface="Public Sans"/>
                          <a:cs typeface="Public Sans"/>
                          <a:sym typeface="Public Sans"/>
                        </a:rPr>
                        <a:t>DEN</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3737</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7.302</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20.04</a:t>
                      </a:r>
                      <a:endParaRPr sz="1100">
                        <a:latin typeface="Public Sans"/>
                        <a:ea typeface="Public Sans"/>
                        <a:cs typeface="Public Sans"/>
                        <a:sym typeface="Public Sans"/>
                      </a:endParaRPr>
                    </a:p>
                  </a:txBody>
                  <a:tcPr marT="63500" marB="63500" marR="63500" marL="63500"/>
                </a:tc>
              </a:tr>
            </a:tbl>
          </a:graphicData>
        </a:graphic>
      </p:graphicFrame>
      <p:pic>
        <p:nvPicPr>
          <p:cNvPr id="146" name="Google Shape;146;p30"/>
          <p:cNvPicPr preferRelativeResize="0"/>
          <p:nvPr/>
        </p:nvPicPr>
        <p:blipFill>
          <a:blip r:embed="rId3">
            <a:alphaModFix/>
          </a:blip>
          <a:stretch>
            <a:fillRect/>
          </a:stretch>
        </p:blipFill>
        <p:spPr>
          <a:xfrm>
            <a:off x="4779049" y="1735575"/>
            <a:ext cx="3983752" cy="2450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100"/>
              <a:buNone/>
            </a:pPr>
            <a:r>
              <a:rPr lang="en" sz="1700"/>
              <a:t>Does the average gain per hour differ for flights that departed late versus those that did not? </a:t>
            </a:r>
            <a:endParaRPr sz="1700"/>
          </a:p>
        </p:txBody>
      </p:sp>
      <p:pic>
        <p:nvPicPr>
          <p:cNvPr id="152" name="Google Shape;152;p31"/>
          <p:cNvPicPr preferRelativeResize="0"/>
          <p:nvPr/>
        </p:nvPicPr>
        <p:blipFill>
          <a:blip r:embed="rId3">
            <a:alphaModFix/>
          </a:blip>
          <a:stretch>
            <a:fillRect/>
          </a:stretch>
        </p:blipFill>
        <p:spPr>
          <a:xfrm>
            <a:off x="2195513" y="953975"/>
            <a:ext cx="4752975" cy="2905125"/>
          </a:xfrm>
          <a:prstGeom prst="rect">
            <a:avLst/>
          </a:prstGeom>
          <a:noFill/>
          <a:ln>
            <a:noFill/>
          </a:ln>
        </p:spPr>
      </p:pic>
      <p:graphicFrame>
        <p:nvGraphicFramePr>
          <p:cNvPr id="153" name="Google Shape;153;p31"/>
          <p:cNvGraphicFramePr/>
          <p:nvPr/>
        </p:nvGraphicFramePr>
        <p:xfrm>
          <a:off x="1600213" y="4018825"/>
          <a:ext cx="3000000" cy="3000000"/>
        </p:xfrm>
        <a:graphic>
          <a:graphicData uri="http://schemas.openxmlformats.org/drawingml/2006/table">
            <a:tbl>
              <a:tblPr>
                <a:noFill/>
                <a:tableStyleId>{2156957E-354E-45BC-AC96-41F6FFF695BE}</a:tableStyleId>
              </a:tblPr>
              <a:tblGrid>
                <a:gridCol w="1485900"/>
                <a:gridCol w="1485900"/>
                <a:gridCol w="1485900"/>
                <a:gridCol w="1485900"/>
              </a:tblGrid>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Degree of Freedom</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T-Statistic</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P-Value</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95% Confidence Interval</a:t>
                      </a:r>
                      <a:endParaRPr sz="1100">
                        <a:latin typeface="Public Sans"/>
                        <a:ea typeface="Public Sans"/>
                        <a:cs typeface="Public Sans"/>
                        <a:sym typeface="Public Sans"/>
                      </a:endParaRPr>
                    </a:p>
                  </a:txBody>
                  <a:tcPr marT="63500" marB="63500" marR="63500" marL="63500"/>
                </a:tc>
              </a:tr>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53125</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11.285</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2.2e-16</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(0.666, 0.946)</a:t>
                      </a:r>
                      <a:endParaRPr sz="1100">
                        <a:latin typeface="Public Sans"/>
                        <a:ea typeface="Public Sans"/>
                        <a:cs typeface="Public Sans"/>
                        <a:sym typeface="Public Sans"/>
                      </a:endParaRPr>
                    </a:p>
                  </a:txBody>
                  <a:tcPr marT="63500" marB="63500" marR="63500" marL="6350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2"/>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100"/>
              <a:buNone/>
            </a:pPr>
            <a:r>
              <a:rPr lang="en" sz="1700"/>
              <a:t>Does the average gain per hour differ for flights that departed very late versus those that did not? </a:t>
            </a:r>
            <a:endParaRPr sz="1700"/>
          </a:p>
        </p:txBody>
      </p:sp>
      <p:pic>
        <p:nvPicPr>
          <p:cNvPr id="159" name="Google Shape;159;p32"/>
          <p:cNvPicPr preferRelativeResize="0"/>
          <p:nvPr/>
        </p:nvPicPr>
        <p:blipFill>
          <a:blip r:embed="rId3">
            <a:alphaModFix/>
          </a:blip>
          <a:stretch>
            <a:fillRect/>
          </a:stretch>
        </p:blipFill>
        <p:spPr>
          <a:xfrm>
            <a:off x="2195513" y="920575"/>
            <a:ext cx="4752975" cy="2971800"/>
          </a:xfrm>
          <a:prstGeom prst="rect">
            <a:avLst/>
          </a:prstGeom>
          <a:noFill/>
          <a:ln>
            <a:noFill/>
          </a:ln>
        </p:spPr>
      </p:pic>
      <p:graphicFrame>
        <p:nvGraphicFramePr>
          <p:cNvPr id="160" name="Google Shape;160;p32"/>
          <p:cNvGraphicFramePr/>
          <p:nvPr/>
        </p:nvGraphicFramePr>
        <p:xfrm>
          <a:off x="1600213" y="4025475"/>
          <a:ext cx="3000000" cy="3000000"/>
        </p:xfrm>
        <a:graphic>
          <a:graphicData uri="http://schemas.openxmlformats.org/drawingml/2006/table">
            <a:tbl>
              <a:tblPr>
                <a:noFill/>
                <a:tableStyleId>{2156957E-354E-45BC-AC96-41F6FFF695BE}</a:tableStyleId>
              </a:tblPr>
              <a:tblGrid>
                <a:gridCol w="1485900"/>
                <a:gridCol w="1485900"/>
                <a:gridCol w="1485900"/>
                <a:gridCol w="1485900"/>
              </a:tblGrid>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Degree of Freedom</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T-Statistic</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P-Value</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95% Confidence Interval</a:t>
                      </a:r>
                      <a:endParaRPr sz="1100">
                        <a:latin typeface="Public Sans"/>
                        <a:ea typeface="Public Sans"/>
                        <a:cs typeface="Public Sans"/>
                        <a:sym typeface="Public Sans"/>
                      </a:endParaRPr>
                    </a:p>
                  </a:txBody>
                  <a:tcPr marT="63500" marB="63500" marR="63500" marL="63500"/>
                </a:tc>
              </a:tr>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8835.1</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4.8323</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1.372e-06</a:t>
                      </a:r>
                      <a:endParaRPr sz="1100">
                        <a:latin typeface="Public Sans"/>
                        <a:ea typeface="Public Sans"/>
                        <a:cs typeface="Public Sans"/>
                        <a:sym typeface="Public Sans"/>
                      </a:endParaRPr>
                    </a:p>
                  </a:txBody>
                  <a:tcPr marT="63500" marB="63500" marR="63500" marL="63500"/>
                </a:tc>
                <a:tc>
                  <a:txBody>
                    <a:bodyPr/>
                    <a:lstStyle/>
                    <a:p>
                      <a:pPr indent="0" lvl="0" marL="0" rtl="0" algn="l">
                        <a:spcBef>
                          <a:spcPts val="0"/>
                        </a:spcBef>
                        <a:spcAft>
                          <a:spcPts val="0"/>
                        </a:spcAft>
                        <a:buNone/>
                      </a:pPr>
                      <a:r>
                        <a:rPr lang="en" sz="1100">
                          <a:latin typeface="Public Sans"/>
                          <a:ea typeface="Public Sans"/>
                          <a:cs typeface="Public Sans"/>
                          <a:sym typeface="Public Sans"/>
                        </a:rPr>
                        <a:t>(0.3745, 0.8858)</a:t>
                      </a:r>
                      <a:endParaRPr sz="1100">
                        <a:latin typeface="Public Sans"/>
                        <a:ea typeface="Public Sans"/>
                        <a:cs typeface="Public Sans"/>
                        <a:sym typeface="Public Sans"/>
                      </a:endParaRPr>
                    </a:p>
                  </a:txBody>
                  <a:tcPr marT="63500" marB="63500" marR="63500" marL="6350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100"/>
              <a:buNone/>
            </a:pPr>
            <a:r>
              <a:rPr lang="en" sz="1700"/>
              <a:t>Does the average gain per hour differ for short and long flights?</a:t>
            </a:r>
            <a:endParaRPr sz="1700"/>
          </a:p>
        </p:txBody>
      </p:sp>
      <p:graphicFrame>
        <p:nvGraphicFramePr>
          <p:cNvPr id="166" name="Google Shape;166;p33"/>
          <p:cNvGraphicFramePr/>
          <p:nvPr/>
        </p:nvGraphicFramePr>
        <p:xfrm>
          <a:off x="1600213" y="4025475"/>
          <a:ext cx="3000000" cy="3000000"/>
        </p:xfrm>
        <a:graphic>
          <a:graphicData uri="http://schemas.openxmlformats.org/drawingml/2006/table">
            <a:tbl>
              <a:tblPr>
                <a:noFill/>
                <a:tableStyleId>{2156957E-354E-45BC-AC96-41F6FFF695BE}</a:tableStyleId>
              </a:tblPr>
              <a:tblGrid>
                <a:gridCol w="1485900"/>
                <a:gridCol w="1485900"/>
                <a:gridCol w="1485900"/>
                <a:gridCol w="1485900"/>
              </a:tblGrid>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Degree of Freedom</a:t>
                      </a:r>
                      <a:endParaRPr sz="1100">
                        <a:latin typeface="Public Sans"/>
                        <a:ea typeface="Public Sans"/>
                        <a:cs typeface="Public Sans"/>
                        <a:sym typeface="Public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Public Sans"/>
                          <a:ea typeface="Public Sans"/>
                          <a:cs typeface="Public Sans"/>
                          <a:sym typeface="Public Sans"/>
                        </a:rPr>
                        <a:t>T-Statistic</a:t>
                      </a:r>
                      <a:endParaRPr sz="1100">
                        <a:latin typeface="Public Sans"/>
                        <a:ea typeface="Public Sans"/>
                        <a:cs typeface="Public Sans"/>
                        <a:sym typeface="Public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Public Sans"/>
                          <a:ea typeface="Public Sans"/>
                          <a:cs typeface="Public Sans"/>
                          <a:sym typeface="Public Sans"/>
                        </a:rPr>
                        <a:t>P-Value</a:t>
                      </a:r>
                      <a:endParaRPr sz="1100">
                        <a:latin typeface="Public Sans"/>
                        <a:ea typeface="Public Sans"/>
                        <a:cs typeface="Public Sans"/>
                        <a:sym typeface="Public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Public Sans"/>
                          <a:ea typeface="Public Sans"/>
                          <a:cs typeface="Public Sans"/>
                          <a:sym typeface="Public Sans"/>
                        </a:rPr>
                        <a:t>95% Confidence Interval</a:t>
                      </a:r>
                      <a:endParaRPr sz="1100">
                        <a:latin typeface="Public Sans"/>
                        <a:ea typeface="Public Sans"/>
                        <a:cs typeface="Public Sans"/>
                        <a:sym typeface="Public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1100">
                          <a:latin typeface="Public Sans"/>
                          <a:ea typeface="Public Sans"/>
                          <a:cs typeface="Public Sans"/>
                          <a:sym typeface="Public Sans"/>
                        </a:rPr>
                        <a:t>40524</a:t>
                      </a:r>
                      <a:endParaRPr sz="1100">
                        <a:latin typeface="Public Sans"/>
                        <a:ea typeface="Public Sans"/>
                        <a:cs typeface="Public Sans"/>
                        <a:sym typeface="Public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Public Sans"/>
                          <a:ea typeface="Public Sans"/>
                          <a:cs typeface="Public Sans"/>
                          <a:sym typeface="Public Sans"/>
                        </a:rPr>
                        <a:t>-58.677</a:t>
                      </a:r>
                      <a:endParaRPr sz="1100">
                        <a:latin typeface="Public Sans"/>
                        <a:ea typeface="Public Sans"/>
                        <a:cs typeface="Public Sans"/>
                        <a:sym typeface="Public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Public Sans"/>
                          <a:ea typeface="Public Sans"/>
                          <a:cs typeface="Public Sans"/>
                          <a:sym typeface="Public Sans"/>
                        </a:rPr>
                        <a:t>2.2e-16</a:t>
                      </a:r>
                      <a:endParaRPr sz="1100">
                        <a:latin typeface="Public Sans"/>
                        <a:ea typeface="Public Sans"/>
                        <a:cs typeface="Public Sans"/>
                        <a:sym typeface="Public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Public Sans"/>
                          <a:ea typeface="Public Sans"/>
                          <a:cs typeface="Public Sans"/>
                          <a:sym typeface="Public Sans"/>
                        </a:rPr>
                        <a:t>(-4.07, -3.8)</a:t>
                      </a:r>
                      <a:endParaRPr sz="1100">
                        <a:latin typeface="Public Sans"/>
                        <a:ea typeface="Public Sans"/>
                        <a:cs typeface="Public Sans"/>
                        <a:sym typeface="Public Sans"/>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167" name="Google Shape;167;p33"/>
          <p:cNvPicPr preferRelativeResize="0"/>
          <p:nvPr/>
        </p:nvPicPr>
        <p:blipFill>
          <a:blip r:embed="rId3">
            <a:alphaModFix/>
          </a:blip>
          <a:stretch>
            <a:fillRect/>
          </a:stretch>
        </p:blipFill>
        <p:spPr>
          <a:xfrm>
            <a:off x="2195513" y="893850"/>
            <a:ext cx="4752975" cy="2886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3600"/>
              <a:buNone/>
            </a:pPr>
            <a:r>
              <a:rPr lang="en" sz="2800"/>
              <a:t>Discussion and Insights</a:t>
            </a:r>
            <a:endParaRPr/>
          </a:p>
        </p:txBody>
      </p:sp>
      <p:grpSp>
        <p:nvGrpSpPr>
          <p:cNvPr id="173" name="Google Shape;173;p34"/>
          <p:cNvGrpSpPr/>
          <p:nvPr/>
        </p:nvGrpSpPr>
        <p:grpSpPr>
          <a:xfrm>
            <a:off x="396018" y="1457257"/>
            <a:ext cx="8352077" cy="2766446"/>
            <a:chOff x="84318" y="249032"/>
            <a:chExt cx="8352077" cy="2766446"/>
          </a:xfrm>
        </p:grpSpPr>
        <p:sp>
          <p:nvSpPr>
            <p:cNvPr id="174" name="Google Shape;174;p34"/>
            <p:cNvSpPr/>
            <p:nvPr/>
          </p:nvSpPr>
          <p:spPr>
            <a:xfrm>
              <a:off x="84318" y="249032"/>
              <a:ext cx="1105800" cy="1105800"/>
            </a:xfrm>
            <a:prstGeom prst="ellipse">
              <a:avLst/>
            </a:prstGeom>
            <a:solidFill>
              <a:srgbClr val="CDD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4"/>
            <p:cNvSpPr/>
            <p:nvPr/>
          </p:nvSpPr>
          <p:spPr>
            <a:xfrm>
              <a:off x="316514" y="481228"/>
              <a:ext cx="641400" cy="6414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4"/>
            <p:cNvSpPr/>
            <p:nvPr/>
          </p:nvSpPr>
          <p:spPr>
            <a:xfrm>
              <a:off x="1426950" y="249032"/>
              <a:ext cx="2606400" cy="110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4"/>
            <p:cNvSpPr txBox="1"/>
            <p:nvPr/>
          </p:nvSpPr>
          <p:spPr>
            <a:xfrm>
              <a:off x="1426950" y="249032"/>
              <a:ext cx="2606400" cy="110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lang="en" sz="2400"/>
                <a:t>On time</a:t>
              </a:r>
              <a:r>
                <a:rPr b="0" i="0" lang="en" sz="2400" u="none" cap="none" strike="noStrike">
                  <a:solidFill>
                    <a:srgbClr val="000000"/>
                  </a:solidFill>
                  <a:latin typeface="Arial"/>
                  <a:ea typeface="Arial"/>
                  <a:cs typeface="Arial"/>
                  <a:sym typeface="Arial"/>
                </a:rPr>
                <a:t> flights tend to </a:t>
              </a:r>
              <a:r>
                <a:rPr lang="en" sz="2400"/>
                <a:t>have a better gain</a:t>
              </a:r>
              <a:endParaRPr/>
            </a:p>
          </p:txBody>
        </p:sp>
        <p:sp>
          <p:nvSpPr>
            <p:cNvPr id="178" name="Google Shape;178;p34"/>
            <p:cNvSpPr/>
            <p:nvPr/>
          </p:nvSpPr>
          <p:spPr>
            <a:xfrm>
              <a:off x="4487362" y="249032"/>
              <a:ext cx="1105800" cy="1105800"/>
            </a:xfrm>
            <a:prstGeom prst="ellipse">
              <a:avLst/>
            </a:prstGeom>
            <a:solidFill>
              <a:srgbClr val="CDD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4"/>
            <p:cNvSpPr/>
            <p:nvPr/>
          </p:nvSpPr>
          <p:spPr>
            <a:xfrm>
              <a:off x="4719559" y="481228"/>
              <a:ext cx="641400" cy="6414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4"/>
            <p:cNvSpPr/>
            <p:nvPr/>
          </p:nvSpPr>
          <p:spPr>
            <a:xfrm>
              <a:off x="5829995" y="249032"/>
              <a:ext cx="2606400" cy="110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4"/>
            <p:cNvSpPr txBox="1"/>
            <p:nvPr/>
          </p:nvSpPr>
          <p:spPr>
            <a:xfrm>
              <a:off x="5829995" y="249032"/>
              <a:ext cx="2606400" cy="110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Recovery varies by route</a:t>
              </a:r>
              <a:endParaRPr/>
            </a:p>
          </p:txBody>
        </p:sp>
        <p:sp>
          <p:nvSpPr>
            <p:cNvPr id="182" name="Google Shape;182;p34"/>
            <p:cNvSpPr/>
            <p:nvPr/>
          </p:nvSpPr>
          <p:spPr>
            <a:xfrm>
              <a:off x="84318" y="1909678"/>
              <a:ext cx="1105800" cy="1105800"/>
            </a:xfrm>
            <a:prstGeom prst="ellipse">
              <a:avLst/>
            </a:prstGeom>
            <a:solidFill>
              <a:srgbClr val="CDD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4"/>
            <p:cNvSpPr/>
            <p:nvPr/>
          </p:nvSpPr>
          <p:spPr>
            <a:xfrm>
              <a:off x="316514" y="2141875"/>
              <a:ext cx="641400" cy="6414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4"/>
            <p:cNvSpPr/>
            <p:nvPr/>
          </p:nvSpPr>
          <p:spPr>
            <a:xfrm>
              <a:off x="1426950" y="1909678"/>
              <a:ext cx="2606400" cy="110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4"/>
            <p:cNvSpPr txBox="1"/>
            <p:nvPr/>
          </p:nvSpPr>
          <p:spPr>
            <a:xfrm>
              <a:off x="1426950" y="1909678"/>
              <a:ext cx="2606400" cy="110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lang="en" sz="2400"/>
                <a:t>Short</a:t>
              </a:r>
              <a:r>
                <a:rPr b="0" i="0" lang="en" sz="2400" u="none" cap="none" strike="noStrike">
                  <a:solidFill>
                    <a:srgbClr val="000000"/>
                  </a:solidFill>
                  <a:latin typeface="Arial"/>
                  <a:ea typeface="Arial"/>
                  <a:cs typeface="Arial"/>
                  <a:sym typeface="Arial"/>
                </a:rPr>
                <a:t> flights recover slightly more per hour</a:t>
              </a:r>
              <a:endParaRPr/>
            </a:p>
          </p:txBody>
        </p:sp>
        <p:sp>
          <p:nvSpPr>
            <p:cNvPr id="186" name="Google Shape;186;p34"/>
            <p:cNvSpPr/>
            <p:nvPr/>
          </p:nvSpPr>
          <p:spPr>
            <a:xfrm>
              <a:off x="4487362" y="1909678"/>
              <a:ext cx="1105800" cy="1105800"/>
            </a:xfrm>
            <a:prstGeom prst="ellipse">
              <a:avLst/>
            </a:prstGeom>
            <a:solidFill>
              <a:srgbClr val="CDD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4"/>
            <p:cNvSpPr/>
            <p:nvPr/>
          </p:nvSpPr>
          <p:spPr>
            <a:xfrm>
              <a:off x="4719559" y="2141875"/>
              <a:ext cx="641400" cy="641400"/>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4"/>
            <p:cNvSpPr/>
            <p:nvPr/>
          </p:nvSpPr>
          <p:spPr>
            <a:xfrm>
              <a:off x="5829995" y="1909678"/>
              <a:ext cx="2606400" cy="110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4"/>
            <p:cNvSpPr txBox="1"/>
            <p:nvPr/>
          </p:nvSpPr>
          <p:spPr>
            <a:xfrm>
              <a:off x="5829995" y="1909678"/>
              <a:ext cx="2606400" cy="11058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Useful for scheduling and forecasting</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3600"/>
              <a:buNone/>
            </a:pPr>
            <a:r>
              <a:rPr lang="en" sz="2800"/>
              <a:t>Potential Next Steps</a:t>
            </a:r>
            <a:endParaRPr/>
          </a:p>
        </p:txBody>
      </p:sp>
      <p:grpSp>
        <p:nvGrpSpPr>
          <p:cNvPr id="195" name="Google Shape;195;p35"/>
          <p:cNvGrpSpPr/>
          <p:nvPr/>
        </p:nvGrpSpPr>
        <p:grpSpPr>
          <a:xfrm>
            <a:off x="332156" y="1467928"/>
            <a:ext cx="8479687" cy="2745001"/>
            <a:chOff x="20456" y="259703"/>
            <a:chExt cx="8479687" cy="2745001"/>
          </a:xfrm>
        </p:grpSpPr>
        <p:sp>
          <p:nvSpPr>
            <p:cNvPr id="196" name="Google Shape;196;p35"/>
            <p:cNvSpPr/>
            <p:nvPr/>
          </p:nvSpPr>
          <p:spPr>
            <a:xfrm>
              <a:off x="514050" y="259703"/>
              <a:ext cx="1544062" cy="1544062"/>
            </a:xfrm>
            <a:prstGeom prst="ellipse">
              <a:avLst/>
            </a:prstGeom>
            <a:solidFill>
              <a:srgbClr val="CDD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5"/>
            <p:cNvSpPr/>
            <p:nvPr/>
          </p:nvSpPr>
          <p:spPr>
            <a:xfrm>
              <a:off x="843112" y="588766"/>
              <a:ext cx="885937" cy="885937"/>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5"/>
            <p:cNvSpPr/>
            <p:nvPr/>
          </p:nvSpPr>
          <p:spPr>
            <a:xfrm>
              <a:off x="20456" y="2284704"/>
              <a:ext cx="253125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5"/>
            <p:cNvSpPr txBox="1"/>
            <p:nvPr/>
          </p:nvSpPr>
          <p:spPr>
            <a:xfrm>
              <a:off x="20456" y="2284704"/>
              <a:ext cx="253125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INCORPORATE WEATHER AND SEASONAL CONDITIONS BASED ON PROJECT 1</a:t>
              </a:r>
              <a:endParaRPr/>
            </a:p>
          </p:txBody>
        </p:sp>
        <p:sp>
          <p:nvSpPr>
            <p:cNvPr id="200" name="Google Shape;200;p35"/>
            <p:cNvSpPr/>
            <p:nvPr/>
          </p:nvSpPr>
          <p:spPr>
            <a:xfrm>
              <a:off x="3488268" y="259703"/>
              <a:ext cx="1544062" cy="1544062"/>
            </a:xfrm>
            <a:prstGeom prst="ellipse">
              <a:avLst/>
            </a:prstGeom>
            <a:solidFill>
              <a:srgbClr val="CDD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5"/>
            <p:cNvSpPr/>
            <p:nvPr/>
          </p:nvSpPr>
          <p:spPr>
            <a:xfrm>
              <a:off x="3817331" y="588766"/>
              <a:ext cx="885937" cy="885937"/>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5"/>
            <p:cNvSpPr/>
            <p:nvPr/>
          </p:nvSpPr>
          <p:spPr>
            <a:xfrm>
              <a:off x="2994675" y="2284704"/>
              <a:ext cx="253125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5"/>
            <p:cNvSpPr txBox="1"/>
            <p:nvPr/>
          </p:nvSpPr>
          <p:spPr>
            <a:xfrm>
              <a:off x="2994675" y="2284704"/>
              <a:ext cx="253125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EXAMINE CONGESTION EFFECTS AT VARIOUS AIRPORTS</a:t>
              </a:r>
              <a:endParaRPr/>
            </a:p>
          </p:txBody>
        </p:sp>
        <p:sp>
          <p:nvSpPr>
            <p:cNvPr id="204" name="Google Shape;204;p35"/>
            <p:cNvSpPr/>
            <p:nvPr/>
          </p:nvSpPr>
          <p:spPr>
            <a:xfrm>
              <a:off x="6462487" y="259703"/>
              <a:ext cx="1544062" cy="1544062"/>
            </a:xfrm>
            <a:prstGeom prst="ellipse">
              <a:avLst/>
            </a:prstGeom>
            <a:solidFill>
              <a:srgbClr val="CDD8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5"/>
            <p:cNvSpPr/>
            <p:nvPr/>
          </p:nvSpPr>
          <p:spPr>
            <a:xfrm>
              <a:off x="6791550" y="588766"/>
              <a:ext cx="885937" cy="885937"/>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5"/>
            <p:cNvSpPr/>
            <p:nvPr/>
          </p:nvSpPr>
          <p:spPr>
            <a:xfrm>
              <a:off x="5968893" y="2284704"/>
              <a:ext cx="253125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5"/>
            <p:cNvSpPr txBox="1"/>
            <p:nvPr/>
          </p:nvSpPr>
          <p:spPr>
            <a:xfrm>
              <a:off x="5968893" y="2284704"/>
              <a:ext cx="253125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MODEL ROUTE-LEVEL DIFFERENCES</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